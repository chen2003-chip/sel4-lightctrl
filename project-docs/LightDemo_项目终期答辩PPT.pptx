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38770"/>
            <a:ext cx="2971800" cy="815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5438770"/>
            <a:ext cx="2971800" cy="815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宋体" panose="02010600030101010101" pitchFamily="2" charset="-122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宋体" panose="02010600030101010101" pitchFamily="2" charset="-122"/>
              </a:defRPr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宋体" panose="02010600030101010101" pitchFamily="2" charset="-122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宋体" panose="02010600030101010101" pitchFamily="2" charset="-122"/>
              </a:defRPr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宋体" panose="02010600030101010101" pitchFamily="2" charset="-122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547104"/>
            <a:ext cx="11384280" cy="0"/>
          </a:xfrm>
          <a:prstGeom prst="line">
            <a:avLst/>
          </a:prstGeom>
          <a:noFill/>
          <a:ln w="12700">
            <a:solidFill>
              <a:srgbClr val="D7E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6601968"/>
            <a:ext cx="8046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LightDemo Engineering Final v2.0 | seL4 + Microkit 车灯控制演示系统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515600" y="6601968"/>
            <a:ext cx="1188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</a:rPr>
              <a:t>终期答辩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宋体" panose="02010600030101010101" pitchFamily="2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40280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基于 seL4 + Microkit 的汽车车灯控制演示系统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35331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7E8FF"/>
                </a:solidFill>
              </a:rPr>
              <a:t>LightDemo Engineering Final v2.0 终期答辩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194560" y="1883664"/>
            <a:ext cx="77724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0"/>
            <a:ext cx="9966960" cy="1645920"/>
          </a:xfrm>
          <a:prstGeom prst="roundRect">
            <a:avLst>
              <a:gd name="adj" fmla="val 4444"/>
            </a:avLst>
          </a:prstGeom>
          <a:solidFill>
            <a:srgbClr val="F8FBFF"/>
          </a:solidFill>
          <a:ln w="13970">
            <a:solidFill>
              <a:srgbClr val="C8D9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843784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项目定位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43584" y="3154680"/>
            <a:ext cx="9674352" cy="11430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从“能跑的 Demo”升级为具备需求分析、概要设计、详细设计、代码实现、自动化测试与证据归档闭环的嵌入式工程样例。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4754880"/>
            <a:ext cx="99669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</a:rPr>
              <a:t>项目组成员：陈杭、曹进威、巢学钊、谌皓天     指导老师：赵振刚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7280" y="5166360"/>
            <a:ext cx="99669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4B5563"/>
                </a:solidFill>
              </a:rPr>
              <a:t>终期汇报 | 参考结题答辩结构 | 数据与代码依据：GitHub 仓库 + final-v2.0 文档与测试证据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报告内容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AGENDA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960120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F7FBFF"/>
          </a:solidFill>
          <a:ln w="12700">
            <a:solidFill>
              <a:srgbClr val="D9E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088136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EA2"/>
                </a:solidFill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91640" y="10881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项目背景和需求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160520" y="1106424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软件定义汽车、微内核安全隔离、车灯控制场景与需求边界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2960" y="1764792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92808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EA2"/>
                </a:solidFill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91640" y="189280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设计思路和技术路线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160520" y="1911096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seL4/Microkit 方案选择、技术路线与总体架构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22960" y="2569464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F7FBFF"/>
          </a:solidFill>
          <a:ln w="12700">
            <a:solidFill>
              <a:srgbClr val="D9E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697480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EA2"/>
                </a:solidFill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91640" y="269748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软件工程设计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60520" y="27157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需求分析、概要设计、详细设计、ER/UML/状态机等规范图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22960" y="3374136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502152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EA2"/>
                </a:solidFill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91640" y="350215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代码实现与技术难点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160520" y="3520440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真实源码片段、故障治理、接口契约与运行时保护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822960" y="4178808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F7FBFF"/>
          </a:solidFill>
          <a:ln w="12700">
            <a:solidFill>
              <a:srgbClr val="D9E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306824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EA2"/>
                </a:solidFill>
              </a:rPr>
              <a:t>05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691640" y="430682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测试验证与成果展示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160520" y="4325112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真实测试数据、证据目录、演示流程与最终结论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822960" y="4983480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111496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EA2"/>
                </a:solidFill>
              </a:rPr>
              <a:t>06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91640" y="511149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27"/>
                </a:solidFill>
              </a:rPr>
              <a:t>总结与参考文献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160520" y="5129784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B5563"/>
                </a:solidFill>
              </a:rPr>
              <a:t>创新点、边界、后续方向与参考资料</a:t>
            </a:r>
            <a:endParaRPr lang="en-US" sz="122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875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PART 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项目背景和需求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7E8FF"/>
                </a:solidFill>
              </a:rPr>
              <a:t>从微内核/Rust 前期研究落到 seL4 + Microkit 车灯控制工程样例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520440"/>
            <a:ext cx="65836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62636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8FF"/>
                </a:solidFill>
              </a:rPr>
              <a:t>基于 seL4 + Microkit 的汽车车灯控制演示系统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项目背景：从前期研究到工程落地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前期课题关注微内核与 Rust；终期项目落点是可运行、可验证的 seL4/Microkit 工程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987552"/>
            <a:ext cx="3474720" cy="45720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8813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前期研究问题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0664" y="1399032"/>
            <a:ext cx="3182112" cy="4069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汽车软件由分布式 ECU 走向集中式/域控架构，系统复杂度、功能安全与网络安全要求提高。前期研究关注微内核隔离、形式化验证与 Rust 内存安全对汽车软件可信性的价值。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4343400" y="987552"/>
            <a:ext cx="3474720" cy="45720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08813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终期工程选择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89704" y="1399032"/>
            <a:ext cx="3182112" cy="4069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课程最终阶段选择 seL4 Microkit 作为工程框架，以 C 语言实现多个 Protection Domain，便于贴合 Microkit SDK、QEMU 验证环境和现有示例生态。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092440" y="987552"/>
            <a:ext cx="3474720" cy="45720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08813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最终项目目标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38744" y="1399032"/>
            <a:ext cx="3182112" cy="40690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不是单纯实现“开灯/关灯”，而是展示需求、设计、实现、测试、证据归档闭环：多保护域协作、共享内存契约、故障生命周期和车辆状态模型。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502920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A8699"/>
                </a:solidFill>
              </a:rPr>
              <a:t>资料来源：前期开题/结课材料、LightDemo final-v2.0 README 与最终详细设计文档。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需求分析：问题域、用户与边界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车灯控制场景看似简单，但可覆盖输入、策略、执行、故障、安全恢复和验证证据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4572000" cy="1965960"/>
          </a:xfrm>
          <a:prstGeom prst="roundRect">
            <a:avLst>
              <a:gd name="adj" fmla="val 3721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14984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核心问题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0664" y="1325880"/>
            <a:ext cx="4279392" cy="1463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如何在微内核环境中，将串口输入、车辆状态、故障事件和灯光输出拆分到明确边界的 protection domain 内，并用可复查证据证明系统行为。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4572000" cy="2148840"/>
          </a:xfrm>
          <a:prstGeom prst="roundRect">
            <a:avLst>
              <a:gd name="adj" fmla="val 3404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36976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最终边界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40664" y="3547872"/>
            <a:ext cx="4279392" cy="1645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当前验收基于 Ubuntu 22.04 + Microkit SDK 2.0.1 + QEMU qemu_virt_aarch64；不声明真实板卡 GPIO 电气验证和 ISO 26262 正式认证完成。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5715000" y="960120"/>
            <a:ext cx="621792" cy="621792"/>
          </a:xfrm>
          <a:prstGeom prst="ellipse">
            <a:avLst/>
          </a:prstGeom>
          <a:solidFill>
            <a:srgbClr val="EAF2FF"/>
          </a:solidFill>
          <a:ln w="15240">
            <a:solidFill>
              <a:srgbClr val="0B4E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25896" y="1581912"/>
            <a:ext cx="0" cy="566928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88152" y="1828800"/>
            <a:ext cx="475488" cy="0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2148840"/>
            <a:ext cx="219456" cy="411480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25896" y="2148840"/>
            <a:ext cx="219456" cy="411480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0515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15214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驾驶员/操作者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38544" y="1463040"/>
            <a:ext cx="1673352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输入灯光命令与状态查询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641080" y="960120"/>
            <a:ext cx="621792" cy="621792"/>
          </a:xfrm>
          <a:prstGeom prst="ellipse">
            <a:avLst/>
          </a:prstGeom>
          <a:solidFill>
            <a:srgbClr val="EAF2FF"/>
          </a:solidFill>
          <a:ln w="15240">
            <a:solidFill>
              <a:srgbClr val="0B4E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51976" y="1581912"/>
            <a:ext cx="0" cy="566928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14232" y="1828800"/>
            <a:ext cx="475488" cy="0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32520" y="2148840"/>
            <a:ext cx="219456" cy="411480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2148840"/>
            <a:ext cx="219456" cy="411480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0" y="10515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55480" y="115214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测试人员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564624" y="1463040"/>
            <a:ext cx="1673352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故障注入、自动化测试与证据归档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715000" y="3246120"/>
            <a:ext cx="621792" cy="621792"/>
          </a:xfrm>
          <a:prstGeom prst="ellipse">
            <a:avLst/>
          </a:prstGeom>
          <a:solidFill>
            <a:srgbClr val="EAF2FF"/>
          </a:solidFill>
          <a:ln w="15240">
            <a:solidFill>
              <a:srgbClr val="0B4E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25896" y="3867912"/>
            <a:ext cx="0" cy="566928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88152" y="4114800"/>
            <a:ext cx="475488" cy="0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6440" y="4434840"/>
            <a:ext cx="219456" cy="411480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25896" y="4434840"/>
            <a:ext cx="219456" cy="411480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33375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343814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课程检查人员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638544" y="3749040"/>
            <a:ext cx="1673352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复查需求闭环、运行日志和文档规范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641080" y="3246120"/>
            <a:ext cx="621792" cy="621792"/>
          </a:xfrm>
          <a:prstGeom prst="ellipse">
            <a:avLst/>
          </a:prstGeom>
          <a:solidFill>
            <a:srgbClr val="EAF2FF"/>
          </a:solidFill>
          <a:ln w="15240">
            <a:solidFill>
              <a:srgbClr val="0B4EA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51976" y="3867912"/>
            <a:ext cx="0" cy="566928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14232" y="4114800"/>
            <a:ext cx="475488" cy="0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32520" y="4434840"/>
            <a:ext cx="219456" cy="411480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51976" y="4434840"/>
            <a:ext cx="219456" cy="411480"/>
          </a:xfrm>
          <a:prstGeom prst="line">
            <a:avLst/>
          </a:prstGeom>
          <a:noFill/>
          <a:ln w="15240">
            <a:solidFill>
              <a:srgbClr val="0B4EA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18320" y="33375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55480" y="3438144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维护人员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564624" y="3749040"/>
            <a:ext cx="1673352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定位模块、修改策略与回归验证</a:t>
            </a:r>
            <a:endParaRPr lang="en-US" sz="108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宋体" panose="02010600030101010101" pitchFamily="2" charset="-122"/>
              </a:rPr>
              <a:t>UML 用例图：系统功能需求视图</a:t>
            </a:r>
            <a:endParaRPr sz="21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3776" y="512064"/>
            <a:ext cx="10149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FFFFFF"/>
                </a:solidFill>
                <a:latin typeface="宋体" panose="02010600030101010101" pitchFamily="2" charset="-122"/>
              </a:rPr>
              <a:t>按标准用例图形式重绘，体现角色、系统边界、include / extend 关系</a:t>
            </a:r>
            <a:endParaRPr sz="88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128016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宋体" panose="02010600030101010101" pitchFamily="2" charset="-122"/>
              </a:rPr>
              <a:t>01</a:t>
            </a:r>
            <a:endParaRPr sz="16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pic>
        <p:nvPicPr>
          <p:cNvPr id="6" name="Picture 5" descr="use_c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932688"/>
            <a:ext cx="11228832" cy="5358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153912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A8699"/>
                </a:solidFill>
                <a:latin typeface="宋体" panose="02010600030101010101" pitchFamily="2" charset="-122"/>
              </a:rPr>
              <a:t>重绘依据：需求分析、用户使用手册、测试报告与需求追踪矩阵中的功能边界。</a:t>
            </a:r>
            <a:endParaRPr sz="800">
              <a:solidFill>
                <a:srgbClr val="7A8699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功能与非功能需求：从“功能可用”到“工程可验收”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需求不仅描述能力，还必须绑定设计、实现与测试证据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932688"/>
            <a:ext cx="1828800" cy="480060"/>
          </a:xfrm>
          <a:prstGeom prst="rect">
            <a:avLst/>
          </a:prstGeom>
          <a:solidFill>
            <a:srgbClr val="0B4EA2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969264"/>
            <a:ext cx="175564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需求类别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377440" y="932688"/>
            <a:ext cx="4937760" cy="480060"/>
          </a:xfrm>
          <a:prstGeom prst="rect">
            <a:avLst/>
          </a:prstGeom>
          <a:solidFill>
            <a:srgbClr val="0B4EA2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14016" y="969264"/>
            <a:ext cx="486460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代表需求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7315200" y="932688"/>
            <a:ext cx="4343400" cy="480060"/>
          </a:xfrm>
          <a:prstGeom prst="rect">
            <a:avLst/>
          </a:prstGeom>
          <a:solidFill>
            <a:srgbClr val="0B4EA2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51776" y="969264"/>
            <a:ext cx="427024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验收证据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48640" y="1412748"/>
            <a:ext cx="182880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1449324"/>
            <a:ext cx="175564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灯光控制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2377440" y="1412748"/>
            <a:ext cx="493776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1449324"/>
            <a:ext cx="486460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近光/远光/转向/示廓/制动命令可解析、裁决并输出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7315200" y="1412748"/>
            <a:ext cx="434340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51776" y="1449324"/>
            <a:ext cx="427024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make smoke、GPIO_OUTPUT_SUMMARY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548640" y="1892808"/>
            <a:ext cx="182880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1929384"/>
            <a:ext cx="175564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车辆状态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2377440" y="1892808"/>
            <a:ext cx="493776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14016" y="1929384"/>
            <a:ext cx="486460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speed、ignition、brake、gear、ambient、hazard、drive_mode 参与裁决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7315200" y="1892808"/>
            <a:ext cx="434340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1929384"/>
            <a:ext cx="427024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test-vehicle-scenarios、vehicle-sweep.csv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548640" y="2372868"/>
            <a:ext cx="182880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2409444"/>
            <a:ext cx="175564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故障安全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2377440" y="2372868"/>
            <a:ext cx="493776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14016" y="2409444"/>
            <a:ext cx="486460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MODE_CONFLICT、HW_STATE_ERR 可升级到 DEGRADED/SAFE_MODE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7315200" y="2372868"/>
            <a:ext cx="434340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51776" y="2409444"/>
            <a:ext cx="427024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test-fault、test-integration-fault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548640" y="2852928"/>
            <a:ext cx="182880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" y="2889504"/>
            <a:ext cx="175564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恢复机制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2377440" y="2852928"/>
            <a:ext cx="493776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14016" y="2889504"/>
            <a:ext cx="486460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clear 后进入 RECOVERING，不直接回 NORMAL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7315200" y="2852928"/>
            <a:ext cx="434340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51776" y="2889504"/>
            <a:ext cx="427024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recovery_elapsed_ms、serial E2E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548640" y="3332988"/>
            <a:ext cx="182880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" y="3369564"/>
            <a:ext cx="175564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工程化</a:t>
            </a:r>
            <a:endParaRPr lang="en-US" sz="1070" dirty="0"/>
          </a:p>
        </p:txBody>
      </p:sp>
      <p:sp>
        <p:nvSpPr>
          <p:cNvPr id="38" name="Shape 36"/>
          <p:cNvSpPr/>
          <p:nvPr/>
        </p:nvSpPr>
        <p:spPr>
          <a:xfrm>
            <a:off x="2377440" y="3332988"/>
            <a:ext cx="493776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14016" y="3369564"/>
            <a:ext cx="486460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构建、测试、证据、答辩报告可一键复现</a:t>
            </a:r>
            <a:endParaRPr lang="en-US" sz="1070" dirty="0"/>
          </a:p>
        </p:txBody>
      </p:sp>
      <p:sp>
        <p:nvSpPr>
          <p:cNvPr id="40" name="Shape 38"/>
          <p:cNvSpPr/>
          <p:nvPr/>
        </p:nvSpPr>
        <p:spPr>
          <a:xfrm>
            <a:off x="7315200" y="3332988"/>
            <a:ext cx="4343400" cy="4800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51776" y="3369564"/>
            <a:ext cx="4270248" cy="4069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make test/qemu-test/evidence/defense-report</a:t>
            </a:r>
            <a:endParaRPr lang="en-US" sz="1070" dirty="0"/>
          </a:p>
        </p:txBody>
      </p:sp>
      <p:sp>
        <p:nvSpPr>
          <p:cNvPr id="42" name="Shape 40"/>
          <p:cNvSpPr/>
          <p:nvPr/>
        </p:nvSpPr>
        <p:spPr>
          <a:xfrm>
            <a:off x="685800" y="41605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261104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非功能需求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32104" y="4572000"/>
            <a:ext cx="5010912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可构建、可测试、可复查、可解释、可演示；同时明确 QEMU 验收边界，不将课程工程模型误写为量产车规系统。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6263640" y="416052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4261104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追踪矩阵结论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409944" y="4572000"/>
            <a:ext cx="4599432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final-v2.0 范围内功能、故障、恢复、工程化与文档质量需求均以 Closed 状态收口；真实板卡和车规认证列为 Future/GAP。</a:t>
            </a:r>
            <a:endParaRPr lang="en-US" sz="132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需求追踪：需求—设计—实现—测试—证据闭环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评分关注“规范性”，因此用追踪矩阵证明每条需求都可定位和复查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2F67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938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需求编号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832104" y="2240280"/>
            <a:ext cx="1399032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REQ-LIGHT/FAULT/ENG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2377440" y="2304288"/>
            <a:ext cx="548640" cy="0"/>
          </a:xfrm>
          <a:prstGeom prst="line">
            <a:avLst/>
          </a:prstGeom>
          <a:noFill/>
          <a:ln w="19050">
            <a:solidFill>
              <a:srgbClr val="0B4EA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18288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2F67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92938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概要设计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3072384" y="2240280"/>
            <a:ext cx="1399032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PD/Channel/Shared Memory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617720" y="2304288"/>
            <a:ext cx="548640" cy="0"/>
          </a:xfrm>
          <a:prstGeom prst="line">
            <a:avLst/>
          </a:prstGeom>
          <a:noFill/>
          <a:ln w="19050">
            <a:solidFill>
              <a:srgbClr val="0B4EA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66360" y="18288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2F67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192938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详细设计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5312664" y="2240280"/>
            <a:ext cx="1399032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函数/结构/状态机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6858000" y="2304288"/>
            <a:ext cx="548640" cy="0"/>
          </a:xfrm>
          <a:prstGeom prst="line">
            <a:avLst/>
          </a:prstGeom>
          <a:noFill/>
          <a:ln w="19050">
            <a:solidFill>
              <a:srgbClr val="0B4EA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18288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2F67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192938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代码实现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7552944" y="2240280"/>
            <a:ext cx="1399032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src/include/systems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9098280" y="2304288"/>
            <a:ext cx="548640" cy="0"/>
          </a:xfrm>
          <a:prstGeom prst="line">
            <a:avLst/>
          </a:prstGeom>
          <a:noFill/>
          <a:ln w="19050">
            <a:solidFill>
              <a:srgbClr val="0B4EA2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46920" y="182880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2F67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192938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测试证据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9793224" y="2240280"/>
            <a:ext cx="1399032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test-results/reports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1051560" y="3749040"/>
            <a:ext cx="1005840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3849624"/>
            <a:ext cx="9784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闭环说明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97864" y="4160520"/>
            <a:ext cx="9765792" cy="8229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追踪矩阵规定：每个需求必须同时具备设计依据、实现位置、验证命令/证据与状态。新增需求或接口变更时，需要同步更新需求文档、概要设计、详细设计、测试计划和证据脚本，避免“文档与代码分离”。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2011680" y="53492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CFE0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548640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</a:rPr>
              <a:t>Closed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121408" y="5925312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final-v2.0 范围内需求状态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5074920" y="53492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CFE0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548640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Future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184648" y="5925312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真实板卡/车规认证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138160" y="53492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CFE0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548640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4EA2"/>
                </a:solidFill>
              </a:rPr>
              <a:t>Evidence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47888" y="5925312"/>
            <a:ext cx="160934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manifest + summary + logs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502920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A8699"/>
                </a:solidFill>
              </a:rPr>
              <a:t>追踪矩阵文档说明需求编号、设计依据、实现位置、验证证据和 Closed/Partial/Open/Future 状态。</a:t>
            </a:r>
            <a:endParaRPr lang="en-US" sz="72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875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PART 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设计思路和技术路线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7E8FF"/>
                </a:solidFill>
              </a:rPr>
              <a:t>从技术路线选择到总体架构设计：直接基于 seL4/Microkit 构建多保护域系统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520440"/>
            <a:ext cx="65836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62636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8FF"/>
                </a:solidFill>
              </a:rPr>
              <a:t>基于 seL4 + Microkit 的汽车车灯控制演示系统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技术路线选择：为什么采用 seL4 Microkit 直接开发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对比“虚拟化运行传统系统”和“直接基于 Microkit 设计保护域”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0704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方案 A：虚拟化/传统系统路径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" y="1371600"/>
            <a:ext cx="4919472" cy="3703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思路：在虚拟机或传统 OS 中运行控制逻辑。优势是复用 Linux/RTOS 生态，驱动和工具链成熟；不足是层次更厚、可证明边界更复杂，课程项目中不易突出 seL4 的保护域设计。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060704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方案 B：直接基于 seL4 Microkit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55664" y="1371600"/>
            <a:ext cx="4919472" cy="3703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思路：把输入、状态、调度、执行、故障、输出拆成多个 protection domain，并通过 channel 与 shared memory 协作。优势是边界清晰、资源轻量、QEMU 验证链路可控。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68680" y="5486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586984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最终选择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014984" y="5897880"/>
            <a:ext cx="10131552" cy="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项目最终采用 C + seL4 Microkit 主体实现，Rust 保留为前期研究背景和后续方向。这样与 Microkit SDK、示例生态、QEMU 课程验收环境保持一致。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宋体" panose="02010600030101010101" pitchFamily="2" charset="-122"/>
              </a:rPr>
              <a:t>概要设计：系统总体架构图</a:t>
            </a:r>
            <a:endParaRPr sz="21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3776" y="512064"/>
            <a:ext cx="10149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FFFFFF"/>
                </a:solidFill>
                <a:latin typeface="宋体" panose="02010600030101010101" pitchFamily="2" charset="-122"/>
              </a:rPr>
              <a:t>按 Protection Domain / Shared Memory / Channel 分层重绘，突出 faultmg 的 owner 角色</a:t>
            </a:r>
            <a:endParaRPr sz="88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128016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宋体" panose="02010600030101010101" pitchFamily="2" charset="-122"/>
              </a:rPr>
              <a:t>02</a:t>
            </a:r>
            <a:endParaRPr sz="16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932688"/>
            <a:ext cx="11228832" cy="5358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153912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A8699"/>
                </a:solidFill>
                <a:latin typeface="宋体" panose="02010600030101010101" pitchFamily="2" charset="-122"/>
              </a:rPr>
              <a:t>重绘依据：README 主链路、概要设计说明书、详细设计说明书与 systems 配置。</a:t>
            </a:r>
            <a:endParaRPr sz="800">
              <a:solidFill>
                <a:srgbClr val="7A8699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部署与运行环境：QEMU + Microkit 课程验收基线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部署图体现最终运行环境、镜像构建和测试证据来源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051560"/>
            <a:ext cx="2926080" cy="4206240"/>
          </a:xfrm>
          <a:prstGeom prst="roundRect">
            <a:avLst>
              <a:gd name="adj" fmla="val 2500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5214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Host / Ubuntu 22.04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23544" y="1463040"/>
            <a:ext cx="2633472" cy="3703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make / bash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aarch64-linux-gnu-gcc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Microkit SDK 2.0.1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qemu-system-aarch64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test-results/final-v2.0/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292608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15214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Microkit Image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18304" y="1463040"/>
            <a:ext cx="2633472" cy="3703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commandin.elf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scheduler.elf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lightctl.elf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faultmg.elf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vehicle_state.elf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gpio.elf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loader.img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8366760" y="1051560"/>
            <a:ext cx="2926080" cy="4206240"/>
          </a:xfrm>
          <a:prstGeom prst="roundRect">
            <a:avLst>
              <a:gd name="adj" fmla="val 2500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15214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QEMU AArch64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13064" y="1463040"/>
            <a:ext cx="2633472" cy="3703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board=qemu_virt_aarch64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config=debug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UART 输入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QEMU GPIO 摘要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STATUS_SNAPSHOT 日志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3703320" y="2834640"/>
            <a:ext cx="868680" cy="0"/>
          </a:xfrm>
          <a:prstGeom prst="line">
            <a:avLst/>
          </a:prstGeom>
          <a:noFill/>
          <a:ln w="16510">
            <a:solidFill>
              <a:srgbClr val="143B7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543300" y="2670048"/>
            <a:ext cx="1188720" cy="237744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3B73"/>
                </a:solidFill>
              </a:rPr>
              <a:t>build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98080" y="2834640"/>
            <a:ext cx="868680" cy="0"/>
          </a:xfrm>
          <a:prstGeom prst="line">
            <a:avLst/>
          </a:prstGeom>
          <a:noFill/>
          <a:ln w="16510">
            <a:solidFill>
              <a:srgbClr val="143B73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38060" y="2670048"/>
            <a:ext cx="1188720" cy="237744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3B73"/>
                </a:solidFill>
              </a:rPr>
              <a:t>run/test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A8699"/>
                </a:solidFill>
              </a:rPr>
              <a:t>README 明确默认环境：Microkit SDK 2.0.1、Board qemu_virt_aarch64、Config debug、推荐 Ubuntu 22.04 VM + QEMU。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宋体" panose="02010600030101010101" pitchFamily="2" charset="-122"/>
              </a:rPr>
              <a:t>概要设计：运行期数据 ER 图（非传统数据库）</a:t>
            </a:r>
            <a:endParaRPr sz="21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3776" y="512064"/>
            <a:ext cx="10149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FFFFFF"/>
                </a:solidFill>
                <a:latin typeface="宋体" panose="02010600030101010101" pitchFamily="2" charset="-122"/>
              </a:rPr>
              <a:t>按概念数据模型重绘，强调对象关系而非持久化数据库</a:t>
            </a:r>
            <a:endParaRPr sz="88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128016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宋体" panose="02010600030101010101" pitchFamily="2" charset="-122"/>
              </a:rPr>
              <a:t>02</a:t>
            </a:r>
            <a:endParaRPr sz="16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pic>
        <p:nvPicPr>
          <p:cNvPr id="6" name="Picture 5" descr="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932688"/>
            <a:ext cx="11228832" cy="5358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153912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A8699"/>
                </a:solidFill>
                <a:latin typeface="宋体" panose="02010600030101010101" pitchFamily="2" charset="-122"/>
              </a:rPr>
              <a:t>重绘依据：light_shmem_t、layout v4、状态快照结构与测试证据对象。</a:t>
            </a:r>
            <a:endParaRPr sz="800">
              <a:solidFill>
                <a:srgbClr val="7A8699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概要设计：工程目录与分层结构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目录结构直接服务于“可构建、可测试、可复查”的工程目标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960120"/>
            <a:ext cx="5212080" cy="5074920"/>
          </a:xfrm>
          <a:prstGeom prst="roundRect">
            <a:avLst>
              <a:gd name="adj" fmla="val 108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9848"/>
            <a:ext cx="48828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93C5F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仓库目录结构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4882896" cy="45720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lightdemo/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├── src/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│   ├── domains/    # Microkit protection domain 入口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│   ├── core/       # 可 host-side 测试的核心逻辑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│   └── support/    # printf/util 支撑代码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├── include/        # 公共头文件与接口契约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├── systems/        # Microkit system 描述文件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├── tests/          # host-side 单元/场景测试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├── scripts/        # QEMU 测试与证据脚本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├── reports/        # 答辩报告与 metrics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└── test-results/   # final-v2.0 证据归档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172200" y="9601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06070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输入接入层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18504" y="1371600"/>
            <a:ext cx="4873752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commandin、vehicle_state：解析串口输入、更新车辆状态、提供状态查询。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42316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52374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策略决策层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18504" y="2834640"/>
            <a:ext cx="4873752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scheduler、faultmg：融合 operator request、vehicle state 和 fault mode，并维护故障生命周期。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88620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98678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执行与证据层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18504" y="4297680"/>
            <a:ext cx="4873752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lightctl、gpio、tests、scripts、reports：动作计划、runtime guard、GPIO 摘要、自动化验证和证据归档。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875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PART 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软件工程设计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7E8FF"/>
                </a:solidFill>
              </a:rPr>
              <a:t>需求分析、概要设计和详细设计均用规范图表达：UML、ER、状态机、时序图和活动图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520440"/>
            <a:ext cx="65836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62636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8FF"/>
                </a:solidFill>
              </a:rPr>
              <a:t>基于 seL4 + Microkit 的汽车车灯控制演示系统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宋体" panose="02010600030101010101" pitchFamily="2" charset="-122"/>
              </a:rPr>
              <a:t>详细设计：Protection Domain 职责边界</a:t>
            </a:r>
            <a:endParaRPr sz="21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3776" y="512064"/>
            <a:ext cx="10149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FFFFFF"/>
                </a:solidFill>
                <a:latin typeface="宋体" panose="02010600030101010101" pitchFamily="2" charset="-122"/>
              </a:rPr>
              <a:t>按职责分解图重绘，突出单一主责与交互关系</a:t>
            </a:r>
            <a:endParaRPr sz="88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128016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宋体" panose="02010600030101010101" pitchFamily="2" charset="-122"/>
              </a:rPr>
              <a:t>03</a:t>
            </a:r>
            <a:endParaRPr sz="16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pic>
        <p:nvPicPr>
          <p:cNvPr id="6" name="Picture 5" descr="pd_res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932688"/>
            <a:ext cx="11228832" cy="5358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153912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A8699"/>
                </a:solidFill>
                <a:latin typeface="宋体" panose="02010600030101010101" pitchFamily="2" charset="-122"/>
              </a:rPr>
              <a:t>重绘依据：src/domains、概要设计、详细设计与 requirements / traceability 文档。</a:t>
            </a:r>
            <a:endParaRPr sz="800">
              <a:solidFill>
                <a:srgbClr val="7A8699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宋体" panose="02010600030101010101" pitchFamily="2" charset="-122"/>
              </a:rPr>
              <a:t>UML 顺序图：近光命令 L 的端到端路径</a:t>
            </a:r>
            <a:endParaRPr sz="21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3776" y="512064"/>
            <a:ext cx="10149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FFFFFF"/>
                </a:solidFill>
                <a:latin typeface="宋体" panose="02010600030101010101" pitchFamily="2" charset="-122"/>
              </a:rPr>
              <a:t>用标准顺序图表示控制消息从 UART 到 gpio 的执行过程</a:t>
            </a:r>
            <a:endParaRPr sz="88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128016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宋体" panose="02010600030101010101" pitchFamily="2" charset="-122"/>
              </a:rPr>
              <a:t>03</a:t>
            </a:r>
            <a:endParaRPr sz="16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pic>
        <p:nvPicPr>
          <p:cNvPr id="6" name="Picture 5" descr="sequ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932688"/>
            <a:ext cx="11228832" cy="5358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153912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A8699"/>
                </a:solidFill>
                <a:latin typeface="宋体" panose="02010600030101010101" pitchFamily="2" charset="-122"/>
              </a:rPr>
              <a:t>重绘依据：commandin -&gt; scheduler -&gt; lightctl -&gt; gpio 的主链路与日志输出路径。</a:t>
            </a:r>
            <a:endParaRPr sz="800">
              <a:solidFill>
                <a:srgbClr val="7A8699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宋体" panose="02010600030101010101" pitchFamily="2" charset="-122"/>
              </a:rPr>
              <a:t>UML 活动图：从命令处理到故障恢复</a:t>
            </a:r>
            <a:endParaRPr sz="21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3776" y="512064"/>
            <a:ext cx="10149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FFFFFF"/>
                </a:solidFill>
                <a:latin typeface="宋体" panose="02010600030101010101" pitchFamily="2" charset="-122"/>
              </a:rPr>
              <a:t>按活动图重绘控制流、分支和恢复窗口逻辑</a:t>
            </a:r>
            <a:endParaRPr sz="88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128016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宋体" panose="02010600030101010101" pitchFamily="2" charset="-122"/>
              </a:rPr>
              <a:t>03</a:t>
            </a:r>
            <a:endParaRPr sz="16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pic>
        <p:nvPicPr>
          <p:cNvPr id="6" name="Picture 5" descr="activ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932688"/>
            <a:ext cx="11228832" cy="5358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153912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A8699"/>
                </a:solidFill>
                <a:latin typeface="宋体" panose="02010600030101010101" pitchFamily="2" charset="-122"/>
              </a:rPr>
              <a:t>重绘依据：faultmg 生命周期、clear/recovery 规则与 vehicle/fault 场景测试。</a:t>
            </a:r>
            <a:endParaRPr sz="800">
              <a:solidFill>
                <a:srgbClr val="7A8699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宋体" panose="02010600030101010101" pitchFamily="2" charset="-122"/>
              </a:rPr>
              <a:t>详细设计：light_shmem_t / Layout V4 数据结构视图</a:t>
            </a:r>
            <a:endParaRPr sz="21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3776" y="512064"/>
            <a:ext cx="10149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FFFFFF"/>
                </a:solidFill>
                <a:latin typeface="宋体" panose="02010600030101010101" pitchFamily="2" charset="-122"/>
              </a:rPr>
              <a:t>按结构视图重绘共享状态布局、字段归属和读写关系</a:t>
            </a:r>
            <a:endParaRPr sz="88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128016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宋体" panose="02010600030101010101" pitchFamily="2" charset="-122"/>
              </a:rPr>
              <a:t>03</a:t>
            </a:r>
            <a:endParaRPr sz="16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pic>
        <p:nvPicPr>
          <p:cNvPr id="6" name="Picture 5" descr="shme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932688"/>
            <a:ext cx="11228832" cy="5358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153912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A8699"/>
                </a:solidFill>
                <a:latin typeface="宋体" panose="02010600030101010101" pitchFamily="2" charset="-122"/>
              </a:rPr>
              <a:t>重绘依据：layout v4、light_contract.*、vehicle_state / fault_state 相关实现。</a:t>
            </a:r>
            <a:endParaRPr sz="800">
              <a:solidFill>
                <a:srgbClr val="7A8699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>
            <a:solidFill>
              <a:srgbClr val="0B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宋体" panose="02010600030101010101" pitchFamily="2" charset="-122"/>
              </a:rPr>
              <a:t>详细设计：Fault Mode + Lifecycle 状态机</a:t>
            </a:r>
            <a:endParaRPr sz="21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3776" y="512064"/>
            <a:ext cx="10149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>
                <a:solidFill>
                  <a:srgbClr val="FFFFFF"/>
                </a:solidFill>
                <a:latin typeface="宋体" panose="02010600030101010101" pitchFamily="2" charset="-122"/>
              </a:rPr>
              <a:t>按状态机规范重绘 NORMAL/WARN/DEGRADED/SAFE_MODE 及恢复转移</a:t>
            </a:r>
            <a:endParaRPr sz="88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07040" y="128016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宋体" panose="02010600030101010101" pitchFamily="2" charset="-122"/>
              </a:rPr>
              <a:t>03</a:t>
            </a:r>
            <a:endParaRPr sz="1600" b="1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pic>
        <p:nvPicPr>
          <p:cNvPr id="6" name="Picture 5" descr="state_mach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932688"/>
            <a:ext cx="11228832" cy="5358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153912"/>
            <a:ext cx="10835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A8699"/>
                </a:solidFill>
                <a:latin typeface="宋体" panose="02010600030101010101" pitchFamily="2" charset="-122"/>
              </a:rPr>
              <a:t>重绘依据：light_fault_mode.c / .h、safety_case 与测试报告中的故障恢复规则。</a:t>
            </a:r>
            <a:endParaRPr sz="800">
              <a:solidFill>
                <a:srgbClr val="7A8699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代码展示：fault taxonomy 与升级阈值是真实实现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用源码片段展示 DEGRADED/SAFE_MODE 的阈值和恢复策略，提升答辩可信度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5715000" cy="4846320"/>
          </a:xfrm>
          <a:prstGeom prst="roundRect">
            <a:avLst>
              <a:gd name="adj" fmla="val 113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069848"/>
            <a:ext cx="53858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93C5F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src/core/light_fault_mode.c：故障分类表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50392" y="1371600"/>
            <a:ext cx="5385816" cy="43434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#define LIGHT_FAULT_RECOVERY_WINDOW_MS 2000U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static const light_fault_taxonomy_entry_t g_fault_taxonomy[] = {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{ LIGHT_ERR_MODE_CONFLICT,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"MODE_CONFLICT",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"DEGRADED_AFTER_3_CONSECUTIVE",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"clear_then_elapsed_window",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"disable_high_beam_minimum_illumination" },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{ LIGHT_ERR_HW_STATE_ERR,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"HW_STATE_ERR",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"SAFE_MODE_AFTER_2",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"clear_then_elapsed_window",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"conservative_low_beam_position_only" },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};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720840" y="1051560"/>
            <a:ext cx="45262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15214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可答辩点 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67144" y="1463040"/>
            <a:ext cx="4233672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故障策略不是口头描述，而是由 taxonomy 表驱动，包含 fault code、来源、升级条件、恢复策略和输出策略。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6720840" y="2514600"/>
            <a:ext cx="45262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61518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可答辩点 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67144" y="2926080"/>
            <a:ext cx="4233672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MODE_CONFLICT 连续 3 次进入 DEGRADED；HW_STATE_ERR 两次进入 SAFE_MODE；恢复窗口使用 2000 ms。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6720840" y="3977640"/>
            <a:ext cx="45262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407822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对应证据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67144" y="4389120"/>
            <a:ext cx="4233672" cy="548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make test-fault、make test-integration-fault、make test-serial-e2e；日志 token 包括 FAULTMG_EVENT、MODE_TRANSITION 和 STATUS_SNAPSHOT。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502920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A8699"/>
                </a:solidFill>
              </a:rPr>
              <a:t>源码事实来自 GitHub：src/core/light_fault_mode.c。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代码展示：derive_mode() 是故障等级的核心判定函数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通过代码说明 WARN、DEGRADED、SAFE_MODE 的优先级与可测试性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5852160" cy="4800600"/>
          </a:xfrm>
          <a:prstGeom prst="roundRect">
            <a:avLst>
              <a:gd name="adj" fmla="val 114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069848"/>
            <a:ext cx="55229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93C5F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src/core/light_fault_mode.c：derive_mode()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50392" y="1371600"/>
            <a:ext cx="5522976" cy="42976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static fault_mode_t derive_mode(const fault_counters_t *counters)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if (counters-&gt;hw_state_errors &gt;= 2U)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return LIGHT_FAULT_MODE_SAFE_MODE;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if (counters-&gt;consecutive_mode_conflicts &gt;= 3U)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return LIGHT_FAULT_MODE_DEGRADED;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if (counters-&gt;speed_limit_errors &gt; 0U ||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  counters-&gt;mode_conflict_errors &gt; 0U ||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  counters-&gt;invalid_cmd_errors &gt; 0U ||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  counters-&gt;hw_state_errors &gt; 0U)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return LIGHT_FAULT_MODE_WARN;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return LIGHT_FAULT_MODE_NORMAL;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}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6995160" y="100584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EA2"/>
                </a:solidFill>
              </a:rPr>
              <a:t>等级优先级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95160" y="1554480"/>
            <a:ext cx="3657600" cy="3108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161848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SAFE_MODE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321040" y="1618488"/>
            <a:ext cx="274320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HW_STATE_ERR ≥ 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95160" y="2377440"/>
            <a:ext cx="292608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244144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DEGRADED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321040" y="2441448"/>
            <a:ext cx="274320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MODE_CONFLICT ≥ 3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995160" y="3200400"/>
            <a:ext cx="219456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326440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WARN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21040" y="3264408"/>
            <a:ext cx="274320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任意识别故障 &gt; 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95160" y="4023360"/>
            <a:ext cx="146304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408736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NORMAL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21040" y="4087368"/>
            <a:ext cx="274320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无 active fault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03720" y="507492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17550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说明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050024" y="5486400"/>
            <a:ext cx="4096512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状态判定按照安全优先级执行：硬件错误优先于模式冲突，所有识别故障至少进入 WARN。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代码展示：Microkit system 配置体现真实保护域部署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systems/light.system 中将 PD 映射到共享内存、UART、fault shared 等资源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6126480" cy="4892040"/>
          </a:xfrm>
          <a:prstGeom prst="roundRect">
            <a:avLst>
              <a:gd name="adj" fmla="val 112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069848"/>
            <a:ext cx="579729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93C5F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systems/light.system：PD 部署片段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50392" y="1371600"/>
            <a:ext cx="5797296" cy="43891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&lt;protection_domain name="commandin" priority="250"&gt;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&lt;map mr="shared_memory_for_scheduler"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   vaddr="0x4100000" perms="rw" ... 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&lt;map mr="uart_phys"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     vaddr="0x4000000" perms="rw" cached="false" 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&lt;program_image path="commandin.elf"/&gt;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&lt;irq irq="33" id="0" 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&lt;/protection_domain&gt;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&lt;protection_domain name="fault_mg" priority="210"&gt;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&lt;map mr="shared_memory_for_scheduler" ... 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&lt;map mr="fault_mode_shared" ... 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 &lt;program_image path="faultmg.elf"/&gt;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&lt;/protection_domain&gt;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132320" y="114300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1243584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工程含义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278624" y="1554480"/>
            <a:ext cx="3959352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PD 不是文档里虚构的模块，而是在 Microkit system 文件中有实际部署、优先级、内存映射和程序镜像。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7132320" y="2788920"/>
            <a:ext cx="425196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2889504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通信基础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78624" y="3200400"/>
            <a:ext cx="3959352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commandin 映射 UART 与 shared memory，faultmg 映射 fault_mode_shared，体现输入网关与故障 owner 的运行边界。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132320" y="443484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4535424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验证入口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78624" y="4846320"/>
            <a:ext cx="3959352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make build 生成 loader.img；make qemu-test 验证 PD 初始化、通知路径和日志 token。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875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PART 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技术难点及解决方案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7E8FF"/>
                </a:solidFill>
              </a:rPr>
              <a:t>接口契约、故障恢复、可观测验证和文档规范化是项目从 Demo 升级为工程样例的关键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520440"/>
            <a:ext cx="65836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62636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8FF"/>
                </a:solidFill>
              </a:rPr>
              <a:t>基于 seL4 + Microkit 的汽车车灯控制演示系统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技术难点 1：多 Protection Domain 的接口一致性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挑战不是“模块能写出来”，而是跨域通信和共享状态不能漂移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3291840" cy="4160520"/>
          </a:xfrm>
          <a:prstGeom prst="roundRect">
            <a:avLst>
              <a:gd name="adj" fmla="val 2222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607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问题表现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86384" y="1371600"/>
            <a:ext cx="2999232" cy="3657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channel ID 如果分散硬编码，容易与 systems/light.system 不一致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transport message 类型与 payload 长度不一致会导致错误路由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shared memory layout 升级后旧字段可能被误读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434840" y="960120"/>
            <a:ext cx="3291840" cy="4160520"/>
          </a:xfrm>
          <a:prstGeom prst="roundRect">
            <a:avLst>
              <a:gd name="adj" fmla="val 2222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607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解决方案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81144" y="1371600"/>
            <a:ext cx="2999232" cy="3657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include/light_channels.h 集中维护 channel ID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light_transport_message_t 统一 version/type/len/payload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Layout V4 使用 layout_version 与 contract 检查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通过 STATUS_SNAPSHOT contract=OK 可观测验证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229600" y="960120"/>
            <a:ext cx="3291840" cy="4160520"/>
          </a:xfrm>
          <a:prstGeom prst="roundRect">
            <a:avLst>
              <a:gd name="adj" fmla="val 2222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0607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证据闭环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75904" y="1371600"/>
            <a:ext cx="2999232" cy="3657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make test-contract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make test-transport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make test-snapshot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serial E2E 中检查 layout=4 与 contract=OK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追踪矩阵将接口变更纳入影响分析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技术难点 2：故障安全不是简单 if，而是生命周期治理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faultmg 将故障分类、升级、恢复和输出策略收口为可解释状态机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07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分类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32104" y="1371600"/>
            <a:ext cx="2999232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四类 fault：SPEED_LIMIT、MODE_CONFLICT、INVALID_CMD、HW_STATE_ERR；taxonomy 同时记录来源、严重性、恢复策略和输出策略。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480560" y="9601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607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升级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26864" y="1371600"/>
            <a:ext cx="2999232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任意故障进入 WARN；MODE_CONFLICT 连续 3 次进入 DEGRADED；HW_STATE_ERR 两次进入 SAFE_MODE。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75320" y="96012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0607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恢复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21624" y="1371600"/>
            <a:ext cx="2999232" cy="9144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clear 不直接回 NORMAL；RECOVERING 经过 elapsed-time recovery window 后逐级下降，恢复中再次故障会中断。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3977640" y="1673352"/>
            <a:ext cx="502920" cy="0"/>
          </a:xfrm>
          <a:prstGeom prst="line">
            <a:avLst/>
          </a:prstGeom>
          <a:noFill/>
          <a:ln w="16510">
            <a:solidFill>
              <a:srgbClr val="143B7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72400" y="1673352"/>
            <a:ext cx="502920" cy="0"/>
          </a:xfrm>
          <a:prstGeom prst="line">
            <a:avLst/>
          </a:prstGeom>
          <a:noFill/>
          <a:ln w="16510">
            <a:solidFill>
              <a:srgbClr val="143B7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97280" y="2971800"/>
            <a:ext cx="9966960" cy="1371600"/>
          </a:xfrm>
          <a:prstGeom prst="roundRect">
            <a:avLst>
              <a:gd name="adj" fmla="val 5333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072384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工程收益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43584" y="3383280"/>
            <a:ext cx="9674352" cy="868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故障治理成为可演示、可测试、可解释的工程机制：答辩时既能展示状态机，也能展示源码阈值和日志 token，避免“安全设计只停留在文字说明”。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97280" y="4800600"/>
            <a:ext cx="9966960" cy="868680"/>
          </a:xfrm>
          <a:prstGeom prst="roundRect">
            <a:avLst>
              <a:gd name="adj" fmla="val 631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4910328"/>
            <a:ext cx="96377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93C5F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关键日志 token 示例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1261872" y="5212080"/>
            <a:ext cx="9637776" cy="365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STATUS_SNAPSHOT fault=SAFE_MODE lifecycle=ACTIVE recovery_elapsed_ms=0/2000 layout=4 contract=OK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FAULTMG_EVENT name=HW_STATE_ERR severity=SAFE_MODE_AFTER_2 recovery_policy=clear_then_elapsed_window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FAULTMG_RECOVERY_TICK recovery_elapsed_ms=1000 recovery_window_ms=2000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技术难点 3：软件工程规范性表达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评分规则关注需求分析、概要设计、详细设计、图表与参考文献，因此文档和 PPT 也要“像工程项目”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1828800" cy="716280"/>
          </a:xfrm>
          <a:prstGeom prst="rect">
            <a:avLst/>
          </a:prstGeom>
          <a:solidFill>
            <a:srgbClr val="0B4EA2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950976"/>
            <a:ext cx="175564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规范项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4663440" cy="716280"/>
          </a:xfrm>
          <a:prstGeom prst="rect">
            <a:avLst/>
          </a:prstGeom>
          <a:solidFill>
            <a:srgbClr val="0B4EA2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9736" y="950976"/>
            <a:ext cx="459028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本项目对应材料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086600" y="914400"/>
            <a:ext cx="4480560" cy="716280"/>
          </a:xfrm>
          <a:prstGeom prst="rect">
            <a:avLst/>
          </a:prstGeom>
          <a:solidFill>
            <a:srgbClr val="0B4EA2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23176" y="950976"/>
            <a:ext cx="440740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PPT 展示方式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94360" y="1630680"/>
            <a:ext cx="182880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1667256"/>
            <a:ext cx="175564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需求分析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423160" y="1630680"/>
            <a:ext cx="466344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9736" y="1667256"/>
            <a:ext cx="459028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功能/非功能需求、用例、追踪矩阵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086600" y="1630680"/>
            <a:ext cx="448056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23176" y="1667256"/>
            <a:ext cx="440740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UML 用例图、需求表、追踪闭环图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94360" y="2346960"/>
            <a:ext cx="182880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2383536"/>
            <a:ext cx="175564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概要设计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2423160" y="2346960"/>
            <a:ext cx="466344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9736" y="2383536"/>
            <a:ext cx="459028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PD 架构、部署图、数据结构、ER 模型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086600" y="2346960"/>
            <a:ext cx="448056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23176" y="2383536"/>
            <a:ext cx="440740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组件图、部署图、运行期数据 ER 图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94360" y="3063240"/>
            <a:ext cx="182880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099816"/>
            <a:ext cx="175564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详细设计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423160" y="3063240"/>
            <a:ext cx="466344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59736" y="3099816"/>
            <a:ext cx="459028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顺序图、活动图、状态机、源码片段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086600" y="3063240"/>
            <a:ext cx="448056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23176" y="3099816"/>
            <a:ext cx="440740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UML 顺序图、活动图、fault state machine、代码展示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594360" y="3779520"/>
            <a:ext cx="182880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" y="3816096"/>
            <a:ext cx="175564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测试与证据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2423160" y="3779520"/>
            <a:ext cx="466344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9736" y="3816096"/>
            <a:ext cx="459028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Host-side、QEMU、vehicle sweep、manifest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086600" y="3779520"/>
            <a:ext cx="448056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3176" y="3816096"/>
            <a:ext cx="440740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测试层次图、PASS 表、46,080 行 sweep 数据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594360" y="4495800"/>
            <a:ext cx="182880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" y="4532376"/>
            <a:ext cx="175564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参考文献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2423160" y="4495800"/>
            <a:ext cx="466344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9736" y="4532376"/>
            <a:ext cx="459028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仓库 README、docs、源码、Microkit/seL4 资料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7086600" y="4495800"/>
            <a:ext cx="4480560" cy="71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23176" y="4532376"/>
            <a:ext cx="4407408" cy="64312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参考文献页列出工程与理论来源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822960" y="5486400"/>
            <a:ext cx="10469880" cy="548640"/>
          </a:xfrm>
          <a:prstGeom prst="roundRect">
            <a:avLst>
              <a:gd name="adj" fmla="val 13333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5586984"/>
            <a:ext cx="10195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答辩策略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969264" y="5897880"/>
            <a:ext cx="10177272" cy="457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不要只说“实现了”，而要按“需求—设计—实现—测试—证据”逐层证明，并用图和代码支撑每个关键结论。</a:t>
            </a:r>
            <a:endParaRPr lang="en-US" sz="12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875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PART 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项目实现成果展示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7E8FF"/>
                </a:solidFill>
              </a:rPr>
              <a:t>最终结果要用真实数据、真实代码、真实证据证明，而不是只展示界面或概念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520440"/>
            <a:ext cx="65836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62636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8FF"/>
                </a:solidFill>
              </a:rPr>
              <a:t>基于 seL4 + Microkit 的汽车车灯控制演示系统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项目实现成果总览：final-v2.0 工程化结果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最终结果以仓库 README、test-results/final-v2.0 和 reports 为证据入口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CFE0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430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4EA2"/>
                </a:solidFill>
              </a:rPr>
              <a:t>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158191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Protection Domain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41248" y="1874520"/>
            <a:ext cx="14264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</a:rPr>
              <a:t>commandin / scheduler / lightctl / faultmg / gpio / vehicle_state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0" y="100584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CFE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1430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4EA2"/>
                </a:solidFill>
              </a:rPr>
              <a:t>18+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52928" y="158191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Channel Endpoint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852928" y="1874520"/>
            <a:ext cx="14264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</a:rPr>
              <a:t>集中定义和系统描述同步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CFE0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430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64608" y="158191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Fault Mode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864608" y="1874520"/>
            <a:ext cx="14264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</a:rPr>
              <a:t>NORMAL / WARN / DEGRADED / SAFE_MODE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766560" y="100584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CFE0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1430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76288" y="158191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Lifecycle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876288" y="1874520"/>
            <a:ext cx="14264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</a:rPr>
              <a:t>STABLE / ACTIVE / RECOVERING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778240" y="100584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CFE0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11430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</a:rPr>
              <a:t>46,080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887968" y="158191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Sweep Rows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8887968" y="1874520"/>
            <a:ext cx="14264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</a:rPr>
              <a:t>车辆/故障组合覆盖数据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31520" y="2743200"/>
            <a:ext cx="10058400" cy="2011680"/>
          </a:xfrm>
          <a:prstGeom prst="roundRect">
            <a:avLst>
              <a:gd name="adj" fmla="val 3636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2843784"/>
            <a:ext cx="9784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最终交付物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77824" y="3154680"/>
            <a:ext cx="9765792" cy="15087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码与系统描述：src/、include/、systems/、Makefile；测试与证据：tests/、scripts/、test-results/final-v2.0/；答辩材料：reports/defense_report_final-v2.0.md、final_v2_metrics.md；课程文档：需求、概要、详细、用户手册、追踪矩阵、测试报告等。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31520" y="5257800"/>
            <a:ext cx="10058400" cy="594360"/>
          </a:xfrm>
          <a:prstGeom prst="roundRect">
            <a:avLst>
              <a:gd name="adj" fmla="val 12308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58384"/>
            <a:ext cx="9784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验收口径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77824" y="5669280"/>
            <a:ext cx="9765792" cy="914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可构建、可运行、可测试、可复查、可答辩；当前最终验收基于 QEMU，不扩大到真实硬件和正式车规认证。</a:t>
            </a:r>
            <a:endParaRPr lang="en-US" sz="12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测试体系：四层验证链路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从 host-side 逻辑验证到 QEMU 端到端，再到证据归档和答辩报告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1143000"/>
            <a:ext cx="2240280" cy="4206240"/>
          </a:xfrm>
          <a:prstGeom prst="roundRect">
            <a:avLst>
              <a:gd name="adj" fmla="val 3265"/>
            </a:avLst>
          </a:prstGeom>
          <a:solidFill>
            <a:srgbClr val="F8FBFF"/>
          </a:solidFill>
          <a:ln w="13970">
            <a:solidFill>
              <a:srgbClr val="2F67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243584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 Host-side 单元测试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152144" y="1554480"/>
            <a:ext cx="1947672" cy="3703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协议、contract、控制逻辑、fault lifecycle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代表命令：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make test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成功标准：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PASS / 生成证据文件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3246120" y="3246120"/>
            <a:ext cx="502920" cy="0"/>
          </a:xfrm>
          <a:prstGeom prst="line">
            <a:avLst/>
          </a:prstGeom>
          <a:noFill/>
          <a:ln w="16510">
            <a:solidFill>
              <a:srgbClr val="143B7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49040" y="1143000"/>
            <a:ext cx="2240280" cy="420624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3970">
            <a:solidFill>
              <a:srgbClr val="2F67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243584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 场景/组合测试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895344" y="1554480"/>
            <a:ext cx="1947672" cy="3703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车辆状态与故障模式组合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代表命令：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make test-vehicle-sweep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成功标准：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PASS / 生成证据文件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989320" y="3246120"/>
            <a:ext cx="502920" cy="0"/>
          </a:xfrm>
          <a:prstGeom prst="line">
            <a:avLst/>
          </a:prstGeom>
          <a:noFill/>
          <a:ln w="16510">
            <a:solidFill>
              <a:srgbClr val="143B7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92240" y="1143000"/>
            <a:ext cx="2240280" cy="4206240"/>
          </a:xfrm>
          <a:prstGeom prst="roundRect">
            <a:avLst>
              <a:gd name="adj" fmla="val 3265"/>
            </a:avLst>
          </a:prstGeom>
          <a:solidFill>
            <a:srgbClr val="F8FBFF"/>
          </a:solidFill>
          <a:ln w="13970">
            <a:solidFill>
              <a:srgbClr val="2F67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243584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 QEMU E2E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638544" y="1554480"/>
            <a:ext cx="1947672" cy="3703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PD 启动、通知路径、串口输入、状态查询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代表命令：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make qemu-test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成功标准：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PASS / 生成证据文件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732520" y="3246120"/>
            <a:ext cx="502920" cy="0"/>
          </a:xfrm>
          <a:prstGeom prst="line">
            <a:avLst/>
          </a:prstGeom>
          <a:noFill/>
          <a:ln w="16510">
            <a:solidFill>
              <a:srgbClr val="143B7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35440" y="1143000"/>
            <a:ext cx="2240280" cy="420624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3970">
            <a:solidFill>
              <a:srgbClr val="2F67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1243584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 证据归档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381744" y="1554480"/>
            <a:ext cx="1947672" cy="3703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manifest、summary、qemu.log、defense report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代表命令：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make evidence / defense-report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成功标准：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PASS / 生成证据文件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真实测试结果：final-v2.0 验证通过状态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README 与测试报告均给出 Host-side、QEMU 与证据归档的通过结论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2286000" cy="467360"/>
          </a:xfrm>
          <a:prstGeom prst="rect">
            <a:avLst/>
          </a:prstGeom>
          <a:solidFill>
            <a:srgbClr val="0B4EA2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950976"/>
            <a:ext cx="221284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验证项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26080" y="914400"/>
            <a:ext cx="1097280" cy="467360"/>
          </a:xfrm>
          <a:prstGeom prst="rect">
            <a:avLst/>
          </a:prstGeom>
          <a:solidFill>
            <a:srgbClr val="0B4EA2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62656" y="950976"/>
            <a:ext cx="102412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0" y="914400"/>
            <a:ext cx="3474720" cy="467360"/>
          </a:xfrm>
          <a:prstGeom prst="rect">
            <a:avLst/>
          </a:prstGeom>
          <a:solidFill>
            <a:srgbClr val="0B4EA2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9936" y="950976"/>
            <a:ext cx="340156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证据路径/说明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1381760"/>
            <a:ext cx="228600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1418336"/>
            <a:ext cx="221284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Host-side tests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2926080" y="1381760"/>
            <a:ext cx="109728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1418336"/>
            <a:ext cx="102412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PASS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023360" y="1381760"/>
            <a:ext cx="347472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59936" y="1418336"/>
            <a:ext cx="340156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test-results/final-v2.0/host-side-tests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40080" y="1849120"/>
            <a:ext cx="228600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1885696"/>
            <a:ext cx="221284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QEMU smoke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2926080" y="1849120"/>
            <a:ext cx="109728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62656" y="1885696"/>
            <a:ext cx="102412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PASS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4023360" y="1849120"/>
            <a:ext cx="347472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59936" y="1885696"/>
            <a:ext cx="340156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test-results/final-v2.0/qemu-smoke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40080" y="2316480"/>
            <a:ext cx="228600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2353056"/>
            <a:ext cx="221284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QEMU fault integration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2926080" y="2316480"/>
            <a:ext cx="109728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62656" y="2353056"/>
            <a:ext cx="102412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PASS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023360" y="2316480"/>
            <a:ext cx="347472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59936" y="2353056"/>
            <a:ext cx="340156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test-results/final-v2.0/qemu-fault-integration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640080" y="2783840"/>
            <a:ext cx="228600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2820416"/>
            <a:ext cx="221284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QEMU serial E2E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2926080" y="2783840"/>
            <a:ext cx="109728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62656" y="2820416"/>
            <a:ext cx="102412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PASS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4023360" y="2783840"/>
            <a:ext cx="347472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9936" y="2820416"/>
            <a:ext cx="340156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test-results/final-v2.0/qemu-serial-e2e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640080" y="3251200"/>
            <a:ext cx="228600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3287776"/>
            <a:ext cx="221284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Vehicle/fault sweep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2926080" y="3251200"/>
            <a:ext cx="109728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62656" y="3287776"/>
            <a:ext cx="102412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PASS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4023360" y="3251200"/>
            <a:ext cx="347472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9936" y="3287776"/>
            <a:ext cx="340156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test-results/final-v2.0/vehicle-fault-sweep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640080" y="3718560"/>
            <a:ext cx="228600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3755136"/>
            <a:ext cx="221284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Evidence manifest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2926080" y="3718560"/>
            <a:ext cx="109728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62656" y="3755136"/>
            <a:ext cx="102412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PASS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4023360" y="3718560"/>
            <a:ext cx="347472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59936" y="3755136"/>
            <a:ext cx="340156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test-results/final-v2.0/evidence-manifest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640080" y="4185920"/>
            <a:ext cx="228600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" y="4222496"/>
            <a:ext cx="221284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Defense report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2926080" y="4185920"/>
            <a:ext cx="109728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62656" y="4222496"/>
            <a:ext cx="102412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PASS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4023360" y="4185920"/>
            <a:ext cx="347472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59936" y="4222496"/>
            <a:ext cx="340156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test-results/final-v2.0/defense-report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640080" y="4653280"/>
            <a:ext cx="228600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656" y="4689856"/>
            <a:ext cx="221284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Metrics dashboard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2926080" y="4653280"/>
            <a:ext cx="109728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62656" y="4689856"/>
            <a:ext cx="102412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READY</a:t>
            </a:r>
            <a:endParaRPr lang="en-US" sz="870" dirty="0"/>
          </a:p>
        </p:txBody>
      </p:sp>
      <p:sp>
        <p:nvSpPr>
          <p:cNvPr id="58" name="Shape 56"/>
          <p:cNvSpPr/>
          <p:nvPr/>
        </p:nvSpPr>
        <p:spPr>
          <a:xfrm>
            <a:off x="4023360" y="4653280"/>
            <a:ext cx="3474720" cy="46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7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59936" y="4689856"/>
            <a:ext cx="3401568" cy="39420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reports/final_v2_metrics.md</a:t>
            </a:r>
            <a:endParaRPr lang="en-US" sz="870" dirty="0"/>
          </a:p>
        </p:txBody>
      </p:sp>
      <p:sp>
        <p:nvSpPr>
          <p:cNvPr id="60" name="Text 58"/>
          <p:cNvSpPr/>
          <p:nvPr/>
        </p:nvSpPr>
        <p:spPr>
          <a:xfrm>
            <a:off x="7955280" y="9601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EA2"/>
                </a:solidFill>
              </a:rPr>
              <a:t>通过状态汇总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046720" y="15544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PASS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823960" y="1554480"/>
            <a:ext cx="224028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155680" y="1572768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</a:rPr>
              <a:t>7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46720" y="228600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READY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823960" y="2286000"/>
            <a:ext cx="320040" cy="256032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35440" y="2304288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</a:rPr>
              <a:t>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046720" y="30175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FAIL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823960" y="3017520"/>
            <a:ext cx="0" cy="2560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15400" y="3035808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</a:rPr>
              <a:t>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955280" y="41605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092440" y="4261104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8101584" y="4572000"/>
            <a:ext cx="2953512" cy="8229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自动化测试不仅证明系统能运行，还保存了可复查的 log、summary、manifest 和报告材料，形成工程验收证据链。</a:t>
            </a:r>
            <a:endParaRPr lang="en-US" sz="1200" dirty="0"/>
          </a:p>
        </p:txBody>
      </p:sp>
      <p:sp>
        <p:nvSpPr>
          <p:cNvPr id="7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真实数据展示：46,080 行车辆/故障组合 sweep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v2.0 车辆状态模型把“车灯命令”升级为上下文相关的安全裁决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00584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CFE0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4300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</a:rPr>
              <a:t>46,080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86968" y="1581912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vehicle-sweep.csv 行数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86968" y="187452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</a:rPr>
              <a:t>README 与测试报告给出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CFE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4300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4EA2"/>
                </a:solidFill>
              </a:rPr>
              <a:t>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55848" y="1581912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车辆状态字段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355848" y="187452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</a:rPr>
              <a:t>speed / ignition / brake / gear / ambient / hazard / drive_mode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715000" y="100584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CFE0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14300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24728" y="1581912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故障模式覆盖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824728" y="187452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</a:rPr>
              <a:t>NORMAL / WARN / DEGRADED / SAFE_MODE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183880" y="100584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CFE0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14300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46C1"/>
                </a:solidFill>
              </a:rPr>
              <a:t>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93608" y="1581912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11827"/>
                </a:solidFill>
              </a:rPr>
              <a:t>灯光输出维度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93608" y="187452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4B5563"/>
                </a:solidFill>
              </a:rPr>
              <a:t>low / high / left / right / position / brake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77240" y="260604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70662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车辆状态字段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3544" y="3017520"/>
            <a:ext cx="4828032" cy="1874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speed：影响远光和场景策略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ignition：区分可运行状态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brake_pedal：影响制动灯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gear：park/reverse/drive 约束输出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ambient：day/dusk/night 影响照明需求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hazard 与 drive_mode：支持双闪和 emergency 语义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309360" y="260604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706624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数据价值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55664" y="3017520"/>
            <a:ext cx="4828032" cy="1874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组合 sweep 不等于真实道路测试，但对课程工程项目而言，它比单次演示更能证明策略在大规模输入组合下具有一致性，也为 final_v2_metrics 提供数据来源。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502920" y="632764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A8699"/>
                </a:solidFill>
              </a:rPr>
              <a:t>数据来源：README 和测试报告中明确 vehicle-sweep.csv 覆盖 46,080 行车辆/故障组合数据。</a:t>
            </a:r>
            <a:endParaRPr lang="en-US" sz="7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成果演示流程：一条可复现的现场路径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答辩时先自动化测试，再手动串口演示，最后展示证据目录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914400"/>
            <a:ext cx="6400800" cy="5257800"/>
          </a:xfrm>
          <a:prstGeom prst="roundRect">
            <a:avLst>
              <a:gd name="adj" fmla="val 104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024128"/>
            <a:ext cx="607161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93C5F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最终复测与演示命令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50392" y="1325880"/>
            <a:ext cx="6071616" cy="47548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# 自动化复现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make clean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make test TEST_RUN_ID=final-v2.0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make build MICROKIT_SDK=../microkit-sdk-2.0.1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make qemu-test TEST_RUN_ID=final-v2.0 MICROKIT_SDK=../microkit-sdk-2.0.1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make evidence TEST_RUN_ID=final-v2.0</a:t>
            </a:r>
            <a:endParaRPr lang="en-US" sz="970" dirty="0"/>
          </a:p>
          <a:p>
            <a:pPr marL="0" indent="0">
              <a:buNone/>
            </a:pP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# 手动演示：QEMU 串口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L     # 打开近光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?     # 查询状态快照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# #   # 连续注入 HW_STATE_ERR，进入 SAFE_MODE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C     # clear 并进入恢复路径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E5E7EB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?     # 查看 recovery_elapsed_ms / contract=OK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7452360" y="10058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110642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观察 1：GPIO 输出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98664" y="1417320"/>
            <a:ext cx="3547872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GPIO_OUTPUT_SUMMARY 说明灯光输出是否发生变化，是“灯最终是什么状态”的证据。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7452360" y="251460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261518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观察 2：状态快照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98664" y="2926080"/>
            <a:ext cx="3547872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STATUS_SNAPSHOT 同时展示 fault、vehicle、target、layout 和 contract，是解释“为什么这样输出”的证据。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7452360" y="402336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412394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观察 3：故障生命周期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98664" y="4434840"/>
            <a:ext cx="3547872" cy="7315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FAULTMG_EVENT / MODE_TRANSITION / RECOVERY_TICK 证明故障升级和恢复不是手写结论，而是日志可复查。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项目特色、当前边界与后续演进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特色要建立在事实与边界之上：能证明完成什么，也要说明没有完成什么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60704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项目特色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32104" y="1371600"/>
            <a:ext cx="2953512" cy="3931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用 seL4 Microkit 展示多保护域隔离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faultmg 统一拥有故障生命周期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Layout V4 使车辆状态和恢复窗口可观测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通过测试证据链支撑终期答辩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文档形成需求—设计—实现—测试闭环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4480560" y="960120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60704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当前边界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26864" y="1371600"/>
            <a:ext cx="2953512" cy="3931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最终验收基于 QEMU 虚拟平台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不声明真实板卡 GPIO 电气验证完成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不声明 ISO 26262 正式认证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fault 阈值是课程演示策略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Rust 作为前期研究与后续方向，不是当前实现缺口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8275320" y="960120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060704"/>
            <a:ext cx="2971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后续演进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21624" y="1371600"/>
            <a:ext cx="2953512" cy="3931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接入真实板卡 GPIO 与逻辑分析仪证据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引入 CAN/LIN 或模拟车辆总线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自动生成 traceability dashboard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补充 hazard analysis / fault tree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将部分核心逻辑迁移到 Rust 做对比实验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8755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PART 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总结与参考文献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7E8FF"/>
                </a:solidFill>
              </a:rPr>
              <a:t>项目价值不只在功能演示，而在工程闭环、可验证证据和规范化表达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3520440"/>
            <a:ext cx="65836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62636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8FF"/>
                </a:solidFill>
              </a:rPr>
              <a:t>基于 seL4 + Microkit 的汽车车灯控制演示系统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终期总结：从研究主题到工程样例的闭环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LightDemo 的最终价值在于“微内核工程化实践 + 软件工程证据链”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960120"/>
            <a:ext cx="1069848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60704"/>
            <a:ext cx="10424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一句话总结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23544" y="1371600"/>
            <a:ext cx="10405872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本项目将前期“微内核与 Rust 在汽车软件中的应用研究”落地为一个基于 seL4 Microkit 的车灯控制工程样例，最终形成多保护域架构、故障生命周期、车辆状态模型、自动化测试和证据归档闭环。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68680" y="283464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935224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需求层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4984" y="3246120"/>
            <a:ext cx="2039112" cy="1554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明确功能、故障、安全、工程化和文档质量需求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3657600" y="283464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2935224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03904" y="3246120"/>
            <a:ext cx="2039112" cy="1554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 UML 用例图、组件图、部署图、ER 图、顺序图和状态机表达规范设计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446520" y="283464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935224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92824" y="3246120"/>
            <a:ext cx="2039112" cy="1554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 C + seL4 Microkit 实现 6 个 PD、shared memory、channel 和 faultmg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9235440" y="283464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8FBFF"/>
          </a:solidFill>
          <a:ln w="13970">
            <a:solidFill>
              <a:srgbClr val="B8C7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2935224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81744" y="3246120"/>
            <a:ext cx="2039112" cy="1554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Host-side + QEMU E2E + vehicle sweep + evidence manifest 证明完成度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1097280" y="5486400"/>
            <a:ext cx="9921240" cy="530352"/>
          </a:xfrm>
          <a:prstGeom prst="roundRect">
            <a:avLst>
              <a:gd name="adj" fmla="val 13793"/>
            </a:avLst>
          </a:prstGeom>
          <a:solidFill>
            <a:srgbClr val="FFF7ED"/>
          </a:solidFill>
          <a:ln w="13970">
            <a:solidFill>
              <a:srgbClr val="FDBA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5586984"/>
            <a:ext cx="9646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最终判断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43584" y="5897880"/>
            <a:ext cx="9628632" cy="274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final-v2.0 已满足课程工程实践项目的最终提交与答辩要求；后续真实板卡、车辆总线和认证级安全论证作为扩展方向。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46304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参考文献与资料来源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3776" y="521208"/>
            <a:ext cx="9509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7E8FF"/>
                </a:solidFill>
              </a:rPr>
              <a:t>PPT 内容依据仓库事实、最终文档、源码和测试证据整理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241280" y="118872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789920" cy="525780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CHEN2003-CHIP/sel4-LightCTRL GitHub 仓库 README.md：final-v2.0 结果、架构链路、构建与验证命令。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项目文档：软件需求分析、概要设计说明书、详细设计说明书、测试报告、追踪矩阵、用户使用手册。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src/core/light_fault_mode.c：fault taxonomy、derive_mode、elapsed-time recovery window 实现。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include/light_protocol.h：LIGHT_SHARED_STATE_LAYOUT_V4、light_shmem_t 相关协议定义。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systems/light.system：Microkit protection domain、内存映射、UART IRQ 与程序镜像配置。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docs/architecture.md、docs/safety_case.md、docs/requirements.md、docs/test_plan.md、docs/validation_report.md。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seL4 Foundation / Microkit 官方资料：seL4 微内核、Microkit 系统构建与 protection domain 概念。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前期开题与结课材料：《微内核系统与 RUST 语言在汽车软件中的应用研究》《车灯控制系统汇报》。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EA2"/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4028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感谢老师的聆听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1546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7E8FF"/>
                </a:solidFill>
              </a:rPr>
              <a:t>欢迎批评指正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530352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E8FF"/>
                </a:solidFill>
              </a:rPr>
              <a:t>LightDemo Engineering Final v2.0 | seL4 + Microkit 车灯控制演示系统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13183</Words>
  <Application>WPS 演示</Application>
  <PresentationFormat>On-screen Show (16:9)</PresentationFormat>
  <Paragraphs>989</Paragraphs>
  <Slides>38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8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Noto Sans CJK SC</vt:lpstr>
      <vt:lpstr>微软雅黑</vt:lpstr>
      <vt:lpstr>Arial Unicode MS</vt:lpstr>
      <vt:lpstr>等线</vt:lpstr>
      <vt:lpstr>JetBrains Mono</vt:lpstr>
      <vt:lpstr>JetBrains Mono</vt:lpstr>
      <vt:lpstr>JetBrains Mono</vt:lpstr>
      <vt:lpstr>MingLiU-ExtB</vt:lpstr>
      <vt:lpstr>Calibri</vt:lpstr>
      <vt:lpstr>Saturday Sans Regular</vt:lpstr>
      <vt:lpstr>Jetter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课程项目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seL4 + Microkit 的汽车车灯控制演示系统</dc:title>
  <dc:creator>OpenAI</dc:creator>
  <dc:subject>LightDemo 项目终期答辩</dc:subject>
  <cp:lastModifiedBy>LHC不羁</cp:lastModifiedBy>
  <cp:revision>2</cp:revision>
  <dcterms:created xsi:type="dcterms:W3CDTF">2026-06-25T07:12:00Z</dcterms:created>
  <dcterms:modified xsi:type="dcterms:W3CDTF">2026-06-25T09:53:54Z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61166B66AB7E46C08E8DC2D056FFA1BC_12</vt:lpwstr>
  </property>
</Properties>
</file>